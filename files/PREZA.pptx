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56" r:id="rId2"/>
    <p:sldId id="265" r:id="rId3"/>
    <p:sldId id="262" r:id="rId4"/>
    <p:sldId id="257" r:id="rId5"/>
    <p:sldId id="259" r:id="rId6"/>
    <p:sldId id="258" r:id="rId7"/>
    <p:sldId id="268" r:id="rId8"/>
    <p:sldId id="267" r:id="rId9"/>
    <p:sldId id="264" r:id="rId10"/>
    <p:sldId id="261" r:id="rId11"/>
    <p:sldId id="269" r:id="rId12"/>
    <p:sldId id="26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BBBE"/>
    <a:srgbClr val="90A2CF"/>
    <a:srgbClr val="BCD1D6"/>
    <a:srgbClr val="D5DAE2"/>
    <a:srgbClr val="C76100"/>
    <a:srgbClr val="6D5B47"/>
    <a:srgbClr val="A9A192"/>
    <a:srgbClr val="B67D47"/>
    <a:srgbClr val="BB87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75" autoAdjust="0"/>
  </p:normalViewPr>
  <p:slideViewPr>
    <p:cSldViewPr snapToGrid="0">
      <p:cViewPr varScale="1">
        <p:scale>
          <a:sx n="88" d="100"/>
          <a:sy n="88" d="100"/>
        </p:scale>
        <p:origin x="4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08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7682841-2DBA-4CD5-BC09-58A2456C5E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3C7E43-6ADD-44CF-978A-5C1A62E9AC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A0F67-E526-4363-B6FB-D390EB1B138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B7EFB1-2A81-4F4D-B42B-2871F0B239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CFE36C-2A00-4BE3-8365-CD4AB75F7C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7E8A6-3FA7-4ED3-9B10-A3DD942209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00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063ECF-DBB9-46AB-A0A5-55BF6FFC0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27" y="5804784"/>
            <a:ext cx="6421947" cy="7700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AB59E-8A64-4966-AB51-2A06AFAEA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09404" y="2789697"/>
            <a:ext cx="8107484" cy="1717040"/>
          </a:xfrm>
        </p:spPr>
        <p:txBody>
          <a:bodyPr anchor="b">
            <a:noAutofit/>
          </a:bodyPr>
          <a:lstStyle>
            <a:lvl1pPr algn="ctr">
              <a:defRPr sz="8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E145D-C49E-4C3C-912A-3BB3E9E5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fld id="{18187482-321B-4091-AF48-1FA5705C2782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640FC7-84E7-4FF7-A3D4-D389DBE0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F142D5-2441-4DF5-9519-F16DF424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fld id="{FCF1633D-A3A4-41EC-81EB-EC4253811AD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6" name="Straight Connector 18">
            <a:extLst>
              <a:ext uri="{FF2B5EF4-FFF2-40B4-BE49-F238E27FC236}">
                <a16:creationId xmlns:a16="http://schemas.microsoft.com/office/drawing/2014/main" id="{DFB28D53-9058-424C-B13F-F9A36F705443}"/>
              </a:ext>
            </a:extLst>
          </p:cNvPr>
          <p:cNvCxnSpPr>
            <a:cxnSpLocks/>
          </p:cNvCxnSpPr>
          <p:nvPr userDrawn="1"/>
        </p:nvCxnSpPr>
        <p:spPr>
          <a:xfrm>
            <a:off x="2102939" y="5190969"/>
            <a:ext cx="2529150" cy="0"/>
          </a:xfrm>
          <a:prstGeom prst="line">
            <a:avLst/>
          </a:prstGeom>
          <a:ln w="825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67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2ED48C28-A5B5-4B21-BC37-DCD692C5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fld id="{18187482-321B-4091-AF48-1FA5705C2782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165084-25E8-4DD7-B98C-260CEFB2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774FC0-4042-42D1-BE12-B4A22135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fld id="{FCF1633D-A3A4-41EC-81EB-EC4253811A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4ACE1-2465-4316-9B0A-D80C55FA8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1243603" cy="1325563"/>
          </a:xfrm>
        </p:spPr>
        <p:txBody>
          <a:bodyPr/>
          <a:lstStyle>
            <a:lvl1pPr>
              <a:defRPr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186169-EFD6-4891-A340-79A0C17E4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825625"/>
            <a:ext cx="10201796" cy="4351338"/>
          </a:xfr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3252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E416A-62D4-4025-9EE6-A0A7FE3D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76A41-E2CE-45E4-9C81-D836ED66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465FB-1293-4706-900E-F1EDA25E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1DB2DD-E67E-4EAB-948F-26EE5DDB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2AEEC5-F46A-4214-A9EF-D8464426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08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7B924-4E57-4A13-BA12-E5464E5F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216FD-C95A-4D15-90D6-BDE63D38F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970405-5235-4C13-9834-6141D9181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AC2F08-7521-42B2-899A-3D33650C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3718C7-E594-4621-9725-79B9F545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B0DD03-C5CC-409E-A3CA-641721AB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94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C89B8-907D-408D-B908-B49FBE08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982E82-4325-4EAD-B571-ACFB07853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5ACBF0-B777-4E68-AF12-C37B0D700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80F27D-7DFE-4C35-AB8D-423369138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13D5F1-FD9A-4B9F-9FEF-670AEB34E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2EBD00-E804-42D3-A0AE-B6B39D16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2513C4E-94AE-4D57-9F06-3586D55F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3185AC-FC30-4065-A64C-38CACC91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04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E1687-05AE-4269-8F49-B9FB9829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DF81DB-F9CD-4E55-BF07-56B30E15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96D66A-1D4D-4865-BF14-9C4A355D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2997B8-E4F7-4FFE-AD0B-5325DB7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23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C317D4-42FB-4B26-BB81-3800603A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35930D-FD28-4DD9-A759-6BF0EB0A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3C6EB2-89AC-4DCD-BB77-4D363595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07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AE14E-4149-48EB-9324-048DA5D1F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466C0-11C5-44F1-92B2-7AACD214A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17597C-C55F-42B8-968C-9A9F669E4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79847F-229B-4CEF-879E-0E07E16E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F94929-3663-4C0C-932A-2034A072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31C0D9-E176-47FE-8050-A5D1EA6E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40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D3FDC-323E-4C2C-A690-64F2EAB9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A14831-C110-4079-B9B5-18FCA8CBF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735E01-7792-4563-B4C8-3A73F1719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A58838-2DD7-4918-B895-BF9A6505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DF5B9B-56B7-4863-AF17-B7394830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63C416-C561-4953-BA54-A84B0905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74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B9ABC-23C5-4DC5-9C46-D06D7833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6C501B-FF3F-488E-85AE-8AE8CB18F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997DF-F562-4798-B7C7-79F0E6FD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769044-84EC-4A28-8A95-81C55F38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5FBBD5-9151-460C-9A1B-19345AE5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5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5FD227-B215-4F36-81AB-F7985216F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138D31-461F-4886-A5D5-71C186100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5017FA-5558-4FDF-A6DB-49B5491F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4E06B0-652F-4D1A-8B8E-3E31AFCC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1BE7DA-FEF2-4D4A-AD7D-83AA0124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79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6E76A-A78B-4FC6-813D-98C391C2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A3159E-E7DC-41B0-BD68-0E1723393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DC1779-9597-4858-9967-1BAB2D011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87482-321B-4091-AF48-1FA5705C278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207217-3E7F-417D-86BC-92AD72E66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EEC94-F336-4D12-BC00-4AFAAD331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AD421FC0-B471-47DF-90E9-2C5D3389406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9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-creation.r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-creation.r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-creation.r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-creation.r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-creation.ru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-creation.r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-creation.ru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presentation-creation.ru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FFBF67-8232-4AA0-895B-9705078C6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02147" y="3355754"/>
            <a:ext cx="8107484" cy="1717040"/>
          </a:xfrm>
        </p:spPr>
        <p:txBody>
          <a:bodyPr>
            <a:noAutofit/>
          </a:bodyPr>
          <a:lstStyle/>
          <a:p>
            <a:r>
              <a:rPr lang="ru-RU" dirty="0"/>
              <a:t>Антивирусное программное обеспечение</a:t>
            </a:r>
            <a:br>
              <a:rPr lang="ru-RU" dirty="0"/>
            </a:br>
            <a:r>
              <a:rPr lang="ru-RU" dirty="0"/>
              <a:t>(Обзор рынка)</a:t>
            </a:r>
            <a:endParaRPr lang="ru-RU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Объект 4">
            <a:extLst>
              <a:ext uri="{FF2B5EF4-FFF2-40B4-BE49-F238E27FC236}">
                <a16:creationId xmlns:a16="http://schemas.microsoft.com/office/drawing/2014/main" id="{13EB7276-01EE-FF47-920F-8DCACD11A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49308" y="5511182"/>
            <a:ext cx="5955792" cy="161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6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18249-7C54-4C66-AEFD-30C6AAAC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E13C876-7D25-460F-8024-9F2A341B32EB}"/>
              </a:ext>
            </a:extLst>
          </p:cNvPr>
          <p:cNvSpPr/>
          <p:nvPr/>
        </p:nvSpPr>
        <p:spPr>
          <a:xfrm>
            <a:off x="905999" y="2458138"/>
            <a:ext cx="2886075" cy="31805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1E2BA81-A1FA-44EE-AB56-B6D1F4901D6D}"/>
              </a:ext>
            </a:extLst>
          </p:cNvPr>
          <p:cNvSpPr/>
          <p:nvPr/>
        </p:nvSpPr>
        <p:spPr>
          <a:xfrm>
            <a:off x="1972799" y="2116836"/>
            <a:ext cx="733425" cy="73342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668E45-AC9C-4EBA-821C-1E0C339A47A4}"/>
              </a:ext>
            </a:extLst>
          </p:cNvPr>
          <p:cNvSpPr txBox="1"/>
          <p:nvPr/>
        </p:nvSpPr>
        <p:spPr>
          <a:xfrm>
            <a:off x="1982325" y="210216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898492-6A3E-4D7C-88AD-56B250DF7FC6}"/>
              </a:ext>
            </a:extLst>
          </p:cNvPr>
          <p:cNvSpPr/>
          <p:nvPr/>
        </p:nvSpPr>
        <p:spPr>
          <a:xfrm>
            <a:off x="4047936" y="2458138"/>
            <a:ext cx="2886075" cy="31805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A4D4F384-6759-4023-8B4B-6A4681744DB0}"/>
              </a:ext>
            </a:extLst>
          </p:cNvPr>
          <p:cNvSpPr txBox="1">
            <a:spLocks/>
          </p:cNvSpPr>
          <p:nvPr/>
        </p:nvSpPr>
        <p:spPr>
          <a:xfrm>
            <a:off x="4047935" y="2896287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Увеличение объема цифровых данных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3DC4455E-8718-4673-80C8-CAF3D13036FD}"/>
              </a:ext>
            </a:extLst>
          </p:cNvPr>
          <p:cNvSpPr/>
          <p:nvPr/>
        </p:nvSpPr>
        <p:spPr>
          <a:xfrm>
            <a:off x="5114736" y="2116836"/>
            <a:ext cx="733425" cy="73342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0B8C95-C644-453C-A937-A56836C7A798}"/>
              </a:ext>
            </a:extLst>
          </p:cNvPr>
          <p:cNvSpPr txBox="1"/>
          <p:nvPr/>
        </p:nvSpPr>
        <p:spPr>
          <a:xfrm>
            <a:off x="5124261" y="2127506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ru-RU" sz="4000" b="1" dirty="0">
              <a:solidFill>
                <a:schemeClr val="accent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C63A674-A078-486F-912C-2559DE6603CA}"/>
              </a:ext>
            </a:extLst>
          </p:cNvPr>
          <p:cNvSpPr/>
          <p:nvPr/>
        </p:nvSpPr>
        <p:spPr>
          <a:xfrm>
            <a:off x="7189874" y="2461582"/>
            <a:ext cx="2886075" cy="318055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бъект 2">
            <a:extLst>
              <a:ext uri="{FF2B5EF4-FFF2-40B4-BE49-F238E27FC236}">
                <a16:creationId xmlns:a16="http://schemas.microsoft.com/office/drawing/2014/main" id="{9C7D0A66-B720-4977-8914-7FDB0A8D9063}"/>
              </a:ext>
            </a:extLst>
          </p:cNvPr>
          <p:cNvSpPr txBox="1">
            <a:spLocks/>
          </p:cNvSpPr>
          <p:nvPr/>
        </p:nvSpPr>
        <p:spPr>
          <a:xfrm>
            <a:off x="7189873" y="2899731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Необходимость защиты персональной информации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092F9931-9348-4C35-9048-D83A114DB78D}"/>
              </a:ext>
            </a:extLst>
          </p:cNvPr>
          <p:cNvSpPr/>
          <p:nvPr/>
        </p:nvSpPr>
        <p:spPr>
          <a:xfrm>
            <a:off x="8256674" y="2120280"/>
            <a:ext cx="733425" cy="73342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B0ECA-463A-48AE-9EDA-F6D0DF2CAFB5}"/>
              </a:ext>
            </a:extLst>
          </p:cNvPr>
          <p:cNvSpPr txBox="1"/>
          <p:nvPr/>
        </p:nvSpPr>
        <p:spPr>
          <a:xfrm>
            <a:off x="8266199" y="213777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ru-RU" sz="4000" b="1" dirty="0">
              <a:solidFill>
                <a:schemeClr val="accent1"/>
              </a:solidFill>
            </a:endParaRP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803A00FE-DE50-41A1-B9B4-76FEA7FBCE60}"/>
              </a:ext>
            </a:extLst>
          </p:cNvPr>
          <p:cNvSpPr txBox="1">
            <a:spLocks/>
          </p:cNvSpPr>
          <p:nvPr/>
        </p:nvSpPr>
        <p:spPr>
          <a:xfrm>
            <a:off x="931395" y="2896287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Развитие цифровой экономики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Нижний колонтитул 4">
            <a:extLst>
              <a:ext uri="{FF2B5EF4-FFF2-40B4-BE49-F238E27FC236}">
                <a16:creationId xmlns:a16="http://schemas.microsoft.com/office/drawing/2014/main" id="{CD90E16A-7557-47B8-A068-0D2635506D70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25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D375C-98E8-40E5-AB4D-CAC0FE77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антивирусного ПО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4EEFB532-A1E8-4AFE-B494-95AE721E5B4B}"/>
              </a:ext>
            </a:extLst>
          </p:cNvPr>
          <p:cNvSpPr txBox="1">
            <a:spLocks/>
          </p:cNvSpPr>
          <p:nvPr/>
        </p:nvSpPr>
        <p:spPr>
          <a:xfrm>
            <a:off x="1325880" y="2738127"/>
            <a:ext cx="9133114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Антивирусное ПО — это программа для обнаружения, предотвращения и удаления вредоносного программного обеспечения.</a:t>
            </a:r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5C2F5D54-AD71-46C9-9401-E435FA680515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20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64DA9AA-FDD9-4338-B3E0-4FEBBA43C94C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66D5BF1-ACCA-975E-2072-20902742680A}"/>
              </a:ext>
            </a:extLst>
          </p:cNvPr>
          <p:cNvSpPr txBox="1">
            <a:spLocks/>
          </p:cNvSpPr>
          <p:nvPr/>
        </p:nvSpPr>
        <p:spPr>
          <a:xfrm>
            <a:off x="587828" y="491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Основные функции антивируса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7A9602-B2CD-B3DA-F129-4277BD878FB1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Сканирование файлов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Защита в реальном времени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Обнаружение и удаление вирусов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Обновление баз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253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94B1226-FCF4-4D1F-AC62-CBC4289AF964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FEEAAFC-535A-F5B0-A023-582DF4CB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493126"/>
            <a:ext cx="8229600" cy="1143000"/>
          </a:xfrm>
        </p:spPr>
        <p:txBody>
          <a:bodyPr/>
          <a:lstStyle/>
          <a:p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обнаружения</a:t>
            </a:r>
            <a:r>
              <a:rPr dirty="0"/>
              <a:t> </a:t>
            </a:r>
            <a:r>
              <a:rPr dirty="0" err="1"/>
              <a:t>угроз</a:t>
            </a:r>
            <a:endParaRPr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EB5D57BF-4789-3AE9-F521-BE15ACBB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980387"/>
              </p:ext>
            </p:extLst>
          </p:nvPr>
        </p:nvGraphicFramePr>
        <p:xfrm>
          <a:off x="381000" y="1916537"/>
          <a:ext cx="10515600" cy="3850200"/>
        </p:xfrm>
        <a:graphic>
          <a:graphicData uri="http://schemas.openxmlformats.org/drawingml/2006/table">
            <a:tbl>
              <a:tblPr firstRow="1" firstCol="1" bandRow="1"/>
              <a:tblGrid>
                <a:gridCol w="2628900">
                  <a:extLst>
                    <a:ext uri="{9D8B030D-6E8A-4147-A177-3AD203B41FA5}">
                      <a16:colId xmlns:a16="http://schemas.microsoft.com/office/drawing/2014/main" val="7711814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622186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85832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52910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b="1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Вид вредоносного ПО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b="1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Краткое описание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b="1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 распространения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b="1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Основная опасность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742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Компьютерный вирус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Вредоносная программа, внедряющаяся в файлы и активирующаяся при их запуске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Заражённые файлы, флеш-накопители, электронная почта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Повреждение или удаление данных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06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Сетевой червь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Самостоятельно распространяющаяся программа без участия пользователя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Локальные сети, интернет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Быстрое заражение большого количества устройств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012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Троянская программа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Маскируется под полезное ПО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из интернета, вложения в письмах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Кража данных, удалённый доступ к системе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36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Spyware (шпионское ПО)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 для скрытого сбора информации о пользователе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Установка вместе с другим ПО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 личных данных злоумышленникам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61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Ransomware (программа-вымогатель)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Блокирует доступ к данным и требует выкуп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Фишинговые письма, заражённые сайты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Потеря доступа к важной информации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43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Adware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Программа, показывающая навязчивую рекламу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Бесплатные программы, сайты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Замедление работы системы, сбор данных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720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Rootkit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Скрывает присутствие вредоносных программ в системе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Установка вместе с вирусами или троянами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Трудность обнаружения угроз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875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Keylogger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Записывает нажатия клавиш пользователя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Заражённые файлы, вредоносные сайты</a:t>
                      </a:r>
                      <a:endParaRPr lang="ru-RU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Кража паролей и конфиденциальных данных</a:t>
                      </a:r>
                      <a:endParaRPr lang="ru-RU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293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0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AD19D-9CB2-426F-9EA1-C5AF1C64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обнаружения угроз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38C91C00-2E03-4137-8222-DDA15466ED9F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7B756E-AC62-B804-D82E-2659D7EF2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• Сигнатурный анализ</a:t>
            </a:r>
          </a:p>
          <a:p>
            <a:pPr marL="0" indent="0">
              <a:buNone/>
            </a:pPr>
            <a:r>
              <a:rPr lang="ru-RU" dirty="0"/>
              <a:t>• Эвристический анализ</a:t>
            </a:r>
          </a:p>
          <a:p>
            <a:pPr marL="0" indent="0">
              <a:buNone/>
            </a:pPr>
            <a:r>
              <a:rPr lang="ru-RU" dirty="0"/>
              <a:t>• Поведенческий анализ</a:t>
            </a:r>
          </a:p>
          <a:p>
            <a:pPr marL="0" indent="0">
              <a:buNone/>
            </a:pPr>
            <a:r>
              <a:rPr lang="ru-RU" dirty="0"/>
              <a:t>• Облачные технологии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72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8D668-52C3-D380-51BA-0F3E2848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A3FB6F5F-59C2-923A-0B90-BE0FEED46434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97E065-4977-7816-DA63-603FCE30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Тенденции</a:t>
            </a:r>
            <a:r>
              <a:rPr dirty="0"/>
              <a:t> </a:t>
            </a:r>
            <a:r>
              <a:rPr dirty="0" err="1"/>
              <a:t>развития</a:t>
            </a:r>
            <a:endParaRPr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B61FFB4-6843-F80A-6D4C-C8D0FEE16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871029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искусственного</a:t>
            </a:r>
            <a:r>
              <a:rPr dirty="0"/>
              <a:t> </a:t>
            </a:r>
            <a:r>
              <a:rPr dirty="0" err="1"/>
              <a:t>интеллекта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Развитие</a:t>
            </a:r>
            <a:r>
              <a:rPr dirty="0"/>
              <a:t> </a:t>
            </a:r>
            <a:r>
              <a:rPr dirty="0" err="1"/>
              <a:t>облачных</a:t>
            </a:r>
            <a:r>
              <a:rPr dirty="0"/>
              <a:t> </a:t>
            </a:r>
            <a:r>
              <a:rPr dirty="0" err="1"/>
              <a:t>технологий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Комплексные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безопасности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мобильной</a:t>
            </a:r>
            <a:r>
              <a:rPr dirty="0"/>
              <a:t> </a:t>
            </a:r>
            <a:r>
              <a:rPr dirty="0" err="1"/>
              <a:t>защиты</a:t>
            </a:r>
            <a:endParaRPr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E1A7C6A-9298-8BA7-70F4-1A957F495BB1}"/>
              </a:ext>
            </a:extLst>
          </p:cNvPr>
          <p:cNvSpPr txBox="1">
            <a:spLocks/>
          </p:cNvSpPr>
          <p:nvPr/>
        </p:nvSpPr>
        <p:spPr>
          <a:xfrm>
            <a:off x="3505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/>
              <a:t>Проблемы рынка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F0BEBDF-8FC9-CB6D-9B0E-E4844F65EC94}"/>
              </a:ext>
            </a:extLst>
          </p:cNvPr>
          <p:cNvSpPr txBox="1">
            <a:spLocks/>
          </p:cNvSpPr>
          <p:nvPr/>
        </p:nvSpPr>
        <p:spPr>
          <a:xfrm>
            <a:off x="3505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ru-RU"/>
              <a:t>• Появление новых сложных угроз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ru-RU"/>
              <a:t>• Высокая конкуренция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ru-RU"/>
              <a:t>• Вопросы конфиденциальности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ru-RU"/>
              <a:t>• Нагрузка на систему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5238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2144E-D929-4632-92DB-C5A979E0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057" y="120666"/>
            <a:ext cx="8582744" cy="741815"/>
          </a:xfrm>
        </p:spPr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258835D-A063-41B0-AC32-DA6CDBF9E6E5}"/>
              </a:ext>
            </a:extLst>
          </p:cNvPr>
          <p:cNvGrpSpPr/>
          <p:nvPr/>
        </p:nvGrpSpPr>
        <p:grpSpPr>
          <a:xfrm>
            <a:off x="-150501" y="2202840"/>
            <a:ext cx="2697000" cy="4363800"/>
            <a:chOff x="176915" y="1719000"/>
            <a:chExt cx="2697000" cy="43638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B521B202-CA12-41DE-9EAD-C1CE4424FB1C}"/>
                </a:ext>
              </a:extLst>
            </p:cNvPr>
            <p:cNvSpPr/>
            <p:nvPr/>
          </p:nvSpPr>
          <p:spPr>
            <a:xfrm>
              <a:off x="176915" y="5004000"/>
              <a:ext cx="2697000" cy="1078800"/>
            </a:xfrm>
            <a:prstGeom prst="ellipse">
              <a:avLst/>
            </a:prstGeom>
            <a:gradFill flip="none" rotWithShape="1">
              <a:gsLst>
                <a:gs pos="87000">
                  <a:schemeClr val="bg1">
                    <a:lumMod val="85000"/>
                    <a:alpha val="51000"/>
                  </a:schemeClr>
                </a:gs>
                <a:gs pos="41000">
                  <a:schemeClr val="tx1"/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059F17C6-834C-4B2F-84DB-38538375C13E}"/>
                </a:ext>
              </a:extLst>
            </p:cNvPr>
            <p:cNvSpPr/>
            <p:nvPr/>
          </p:nvSpPr>
          <p:spPr>
            <a:xfrm>
              <a:off x="606000" y="1989000"/>
              <a:ext cx="1845000" cy="3870000"/>
            </a:xfrm>
            <a:custGeom>
              <a:avLst/>
              <a:gdLst>
                <a:gd name="connsiteX0" fmla="*/ 0 w 1845000"/>
                <a:gd name="connsiteY0" fmla="*/ 0 h 3870000"/>
                <a:gd name="connsiteX1" fmla="*/ 1845000 w 1845000"/>
                <a:gd name="connsiteY1" fmla="*/ 0 h 3870000"/>
                <a:gd name="connsiteX2" fmla="*/ 1845000 w 1845000"/>
                <a:gd name="connsiteY2" fmla="*/ 3600000 h 3870000"/>
                <a:gd name="connsiteX3" fmla="*/ 922500 w 1845000"/>
                <a:gd name="connsiteY3" fmla="*/ 3870000 h 3870000"/>
                <a:gd name="connsiteX4" fmla="*/ 0 w 1845000"/>
                <a:gd name="connsiteY4" fmla="*/ 3600000 h 38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5000" h="3870000">
                  <a:moveTo>
                    <a:pt x="0" y="0"/>
                  </a:moveTo>
                  <a:lnTo>
                    <a:pt x="1845000" y="0"/>
                  </a:lnTo>
                  <a:lnTo>
                    <a:pt x="1845000" y="3600000"/>
                  </a:lnTo>
                  <a:cubicBezTo>
                    <a:pt x="1845000" y="3749117"/>
                    <a:pt x="1431983" y="3870000"/>
                    <a:pt x="922500" y="3870000"/>
                  </a:cubicBezTo>
                  <a:cubicBezTo>
                    <a:pt x="413017" y="3870000"/>
                    <a:pt x="0" y="3749117"/>
                    <a:pt x="0" y="3600000"/>
                  </a:cubicBezTo>
                  <a:close/>
                </a:path>
              </a:pathLst>
            </a:custGeom>
            <a:gradFill flip="none" rotWithShape="1">
              <a:gsLst>
                <a:gs pos="22000">
                  <a:schemeClr val="accent1"/>
                </a:gs>
                <a:gs pos="92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accent2"/>
                </a:solidFill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DCCCEDA-F2EA-42F7-A8FF-83DB4E7FF38B}"/>
                </a:ext>
              </a:extLst>
            </p:cNvPr>
            <p:cNvSpPr/>
            <p:nvPr/>
          </p:nvSpPr>
          <p:spPr>
            <a:xfrm>
              <a:off x="606840" y="1719000"/>
              <a:ext cx="1845000" cy="54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gradFill>
                <a:gsLst>
                  <a:gs pos="39000">
                    <a:schemeClr val="bg1">
                      <a:lumMod val="95000"/>
                      <a:alpha val="0"/>
                    </a:schemeClr>
                  </a:gs>
                  <a:gs pos="0">
                    <a:schemeClr val="bg1"/>
                  </a:gs>
                  <a:gs pos="70000">
                    <a:schemeClr val="bg1">
                      <a:lumMod val="95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91F6FFB-8081-4903-8FA7-45ABC62B4401}"/>
              </a:ext>
            </a:extLst>
          </p:cNvPr>
          <p:cNvGrpSpPr/>
          <p:nvPr/>
        </p:nvGrpSpPr>
        <p:grpSpPr>
          <a:xfrm>
            <a:off x="2147584" y="2922840"/>
            <a:ext cx="2697000" cy="3643800"/>
            <a:chOff x="2475000" y="2439000"/>
            <a:chExt cx="2697000" cy="3643800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3855C3EF-4E73-4D57-880D-2E7D5113A3FD}"/>
                </a:ext>
              </a:extLst>
            </p:cNvPr>
            <p:cNvSpPr/>
            <p:nvPr/>
          </p:nvSpPr>
          <p:spPr>
            <a:xfrm>
              <a:off x="2475000" y="5004000"/>
              <a:ext cx="2697000" cy="1078800"/>
            </a:xfrm>
            <a:prstGeom prst="ellipse">
              <a:avLst/>
            </a:prstGeom>
            <a:gradFill flip="none" rotWithShape="1">
              <a:gsLst>
                <a:gs pos="87000">
                  <a:schemeClr val="bg1">
                    <a:lumMod val="85000"/>
                    <a:alpha val="51000"/>
                  </a:schemeClr>
                </a:gs>
                <a:gs pos="41000">
                  <a:schemeClr val="tx1"/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D5C2253D-745F-4835-9BE5-A5F6BDF35852}"/>
                </a:ext>
              </a:extLst>
            </p:cNvPr>
            <p:cNvSpPr/>
            <p:nvPr/>
          </p:nvSpPr>
          <p:spPr>
            <a:xfrm>
              <a:off x="2901000" y="2709000"/>
              <a:ext cx="1845000" cy="3150000"/>
            </a:xfrm>
            <a:custGeom>
              <a:avLst/>
              <a:gdLst>
                <a:gd name="connsiteX0" fmla="*/ 0 w 1845000"/>
                <a:gd name="connsiteY0" fmla="*/ 0 h 3150000"/>
                <a:gd name="connsiteX1" fmla="*/ 1845000 w 1845000"/>
                <a:gd name="connsiteY1" fmla="*/ 0 h 3150000"/>
                <a:gd name="connsiteX2" fmla="*/ 1845000 w 1845000"/>
                <a:gd name="connsiteY2" fmla="*/ 2880000 h 3150000"/>
                <a:gd name="connsiteX3" fmla="*/ 922500 w 1845000"/>
                <a:gd name="connsiteY3" fmla="*/ 3150000 h 3150000"/>
                <a:gd name="connsiteX4" fmla="*/ 0 w 1845000"/>
                <a:gd name="connsiteY4" fmla="*/ 2880000 h 315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5000" h="3150000">
                  <a:moveTo>
                    <a:pt x="0" y="0"/>
                  </a:moveTo>
                  <a:lnTo>
                    <a:pt x="1845000" y="0"/>
                  </a:lnTo>
                  <a:lnTo>
                    <a:pt x="1845000" y="2880000"/>
                  </a:lnTo>
                  <a:cubicBezTo>
                    <a:pt x="1845000" y="3029117"/>
                    <a:pt x="1431983" y="3150000"/>
                    <a:pt x="922500" y="3150000"/>
                  </a:cubicBezTo>
                  <a:cubicBezTo>
                    <a:pt x="413017" y="3150000"/>
                    <a:pt x="0" y="3029117"/>
                    <a:pt x="0" y="2880000"/>
                  </a:cubicBez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92000">
                  <a:schemeClr val="accent2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EFDB547-416B-494C-95BB-81CD5DCABAD3}"/>
                </a:ext>
              </a:extLst>
            </p:cNvPr>
            <p:cNvSpPr/>
            <p:nvPr/>
          </p:nvSpPr>
          <p:spPr>
            <a:xfrm>
              <a:off x="2901000" y="2439000"/>
              <a:ext cx="1845000" cy="540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gradFill>
                <a:gsLst>
                  <a:gs pos="39000">
                    <a:schemeClr val="bg1">
                      <a:lumMod val="95000"/>
                      <a:alpha val="0"/>
                    </a:schemeClr>
                  </a:gs>
                  <a:gs pos="0">
                    <a:schemeClr val="bg1"/>
                  </a:gs>
                  <a:gs pos="70000">
                    <a:schemeClr val="bg1">
                      <a:lumMod val="95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8EDE1C8-1B02-465D-BA0E-11DB0F3A9077}"/>
              </a:ext>
            </a:extLst>
          </p:cNvPr>
          <p:cNvGrpSpPr/>
          <p:nvPr/>
        </p:nvGrpSpPr>
        <p:grpSpPr>
          <a:xfrm>
            <a:off x="4392813" y="3642840"/>
            <a:ext cx="2697000" cy="2923800"/>
            <a:chOff x="4720229" y="3159000"/>
            <a:chExt cx="2697000" cy="2923800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FADE1828-081D-4397-A0BB-3CA2E7F124D3}"/>
                </a:ext>
              </a:extLst>
            </p:cNvPr>
            <p:cNvSpPr/>
            <p:nvPr/>
          </p:nvSpPr>
          <p:spPr>
            <a:xfrm>
              <a:off x="4720229" y="5004000"/>
              <a:ext cx="2697000" cy="1078800"/>
            </a:xfrm>
            <a:prstGeom prst="ellipse">
              <a:avLst/>
            </a:prstGeom>
            <a:gradFill flip="none" rotWithShape="1">
              <a:gsLst>
                <a:gs pos="87000">
                  <a:schemeClr val="bg1">
                    <a:lumMod val="85000"/>
                    <a:alpha val="51000"/>
                  </a:schemeClr>
                </a:gs>
                <a:gs pos="41000">
                  <a:schemeClr val="tx1"/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E291EBDC-65AF-47CF-8D43-1AC57237D5A4}"/>
                </a:ext>
              </a:extLst>
            </p:cNvPr>
            <p:cNvSpPr/>
            <p:nvPr/>
          </p:nvSpPr>
          <p:spPr>
            <a:xfrm>
              <a:off x="5196000" y="3429000"/>
              <a:ext cx="1845000" cy="2430000"/>
            </a:xfrm>
            <a:custGeom>
              <a:avLst/>
              <a:gdLst>
                <a:gd name="connsiteX0" fmla="*/ 0 w 1845000"/>
                <a:gd name="connsiteY0" fmla="*/ 0 h 2430000"/>
                <a:gd name="connsiteX1" fmla="*/ 1845000 w 1845000"/>
                <a:gd name="connsiteY1" fmla="*/ 0 h 2430000"/>
                <a:gd name="connsiteX2" fmla="*/ 1845000 w 1845000"/>
                <a:gd name="connsiteY2" fmla="*/ 2160000 h 2430000"/>
                <a:gd name="connsiteX3" fmla="*/ 922500 w 1845000"/>
                <a:gd name="connsiteY3" fmla="*/ 2430000 h 2430000"/>
                <a:gd name="connsiteX4" fmla="*/ 0 w 1845000"/>
                <a:gd name="connsiteY4" fmla="*/ 2160000 h 243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5000" h="2430000">
                  <a:moveTo>
                    <a:pt x="0" y="0"/>
                  </a:moveTo>
                  <a:lnTo>
                    <a:pt x="1845000" y="0"/>
                  </a:lnTo>
                  <a:lnTo>
                    <a:pt x="1845000" y="2160000"/>
                  </a:lnTo>
                  <a:cubicBezTo>
                    <a:pt x="1845000" y="2309117"/>
                    <a:pt x="1431983" y="2430000"/>
                    <a:pt x="922500" y="2430000"/>
                  </a:cubicBezTo>
                  <a:cubicBezTo>
                    <a:pt x="413017" y="2430000"/>
                    <a:pt x="0" y="2309117"/>
                    <a:pt x="0" y="2160000"/>
                  </a:cubicBezTo>
                  <a:close/>
                </a:path>
              </a:pathLst>
            </a:custGeom>
            <a:gradFill flip="none" rotWithShape="1">
              <a:gsLst>
                <a:gs pos="22000">
                  <a:schemeClr val="accent3"/>
                </a:gs>
                <a:gs pos="92000">
                  <a:schemeClr val="accent3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46E254FE-370D-4827-A5DE-A0F9E16611AD}"/>
                </a:ext>
              </a:extLst>
            </p:cNvPr>
            <p:cNvSpPr/>
            <p:nvPr/>
          </p:nvSpPr>
          <p:spPr>
            <a:xfrm>
              <a:off x="5196000" y="3159000"/>
              <a:ext cx="1845000" cy="54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gradFill>
                <a:gsLst>
                  <a:gs pos="39000">
                    <a:schemeClr val="bg1">
                      <a:lumMod val="95000"/>
                      <a:alpha val="0"/>
                    </a:schemeClr>
                  </a:gs>
                  <a:gs pos="0">
                    <a:schemeClr val="bg1"/>
                  </a:gs>
                  <a:gs pos="70000">
                    <a:schemeClr val="bg1">
                      <a:lumMod val="95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5F9FC9D-4E7D-4890-A004-D233C98F13F6}"/>
              </a:ext>
            </a:extLst>
          </p:cNvPr>
          <p:cNvGrpSpPr/>
          <p:nvPr/>
        </p:nvGrpSpPr>
        <p:grpSpPr>
          <a:xfrm>
            <a:off x="6737584" y="4362840"/>
            <a:ext cx="2697000" cy="2185500"/>
            <a:chOff x="7065000" y="3879000"/>
            <a:chExt cx="2697000" cy="2185500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B7C4A1EB-EB37-4C1F-B26B-336F56F9D3EC}"/>
                </a:ext>
              </a:extLst>
            </p:cNvPr>
            <p:cNvSpPr/>
            <p:nvPr/>
          </p:nvSpPr>
          <p:spPr>
            <a:xfrm>
              <a:off x="7065000" y="4985700"/>
              <a:ext cx="2697000" cy="1078800"/>
            </a:xfrm>
            <a:prstGeom prst="ellipse">
              <a:avLst/>
            </a:prstGeom>
            <a:gradFill flip="none" rotWithShape="1">
              <a:gsLst>
                <a:gs pos="86000">
                  <a:schemeClr val="bg1">
                    <a:lumMod val="85000"/>
                    <a:alpha val="51000"/>
                  </a:schemeClr>
                </a:gs>
                <a:gs pos="39000">
                  <a:schemeClr val="tx1"/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9C9C23F-DADB-4479-929F-C60C0B38D683}"/>
                </a:ext>
              </a:extLst>
            </p:cNvPr>
            <p:cNvSpPr/>
            <p:nvPr/>
          </p:nvSpPr>
          <p:spPr>
            <a:xfrm>
              <a:off x="7491000" y="4149000"/>
              <a:ext cx="1845000" cy="1710000"/>
            </a:xfrm>
            <a:custGeom>
              <a:avLst/>
              <a:gdLst>
                <a:gd name="connsiteX0" fmla="*/ 0 w 1845000"/>
                <a:gd name="connsiteY0" fmla="*/ 0 h 1710000"/>
                <a:gd name="connsiteX1" fmla="*/ 1845000 w 1845000"/>
                <a:gd name="connsiteY1" fmla="*/ 0 h 1710000"/>
                <a:gd name="connsiteX2" fmla="*/ 1845000 w 1845000"/>
                <a:gd name="connsiteY2" fmla="*/ 1440000 h 1710000"/>
                <a:gd name="connsiteX3" fmla="*/ 922500 w 1845000"/>
                <a:gd name="connsiteY3" fmla="*/ 1710000 h 1710000"/>
                <a:gd name="connsiteX4" fmla="*/ 0 w 1845000"/>
                <a:gd name="connsiteY4" fmla="*/ 1440000 h 17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5000" h="1710000">
                  <a:moveTo>
                    <a:pt x="0" y="0"/>
                  </a:moveTo>
                  <a:lnTo>
                    <a:pt x="1845000" y="0"/>
                  </a:lnTo>
                  <a:lnTo>
                    <a:pt x="1845000" y="1440000"/>
                  </a:lnTo>
                  <a:cubicBezTo>
                    <a:pt x="1845000" y="1589117"/>
                    <a:pt x="1431983" y="1710000"/>
                    <a:pt x="922500" y="1710000"/>
                  </a:cubicBezTo>
                  <a:cubicBezTo>
                    <a:pt x="413017" y="1710000"/>
                    <a:pt x="0" y="1589117"/>
                    <a:pt x="0" y="1440000"/>
                  </a:cubicBezTo>
                  <a:close/>
                </a:path>
              </a:pathLst>
            </a:custGeom>
            <a:gradFill flip="none" rotWithShape="1">
              <a:gsLst>
                <a:gs pos="22000">
                  <a:schemeClr val="accent4"/>
                </a:gs>
                <a:gs pos="92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16953A09-8675-47E0-8AB2-DC504CA3D870}"/>
                </a:ext>
              </a:extLst>
            </p:cNvPr>
            <p:cNvSpPr/>
            <p:nvPr/>
          </p:nvSpPr>
          <p:spPr>
            <a:xfrm>
              <a:off x="7491000" y="3879000"/>
              <a:ext cx="1845000" cy="54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gradFill>
                <a:gsLst>
                  <a:gs pos="39000">
                    <a:schemeClr val="bg1">
                      <a:lumMod val="95000"/>
                      <a:alpha val="0"/>
                    </a:schemeClr>
                  </a:gs>
                  <a:gs pos="0">
                    <a:schemeClr val="bg1"/>
                  </a:gs>
                  <a:gs pos="70000">
                    <a:schemeClr val="bg1">
                      <a:lumMod val="95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24" name="Овал 23">
            <a:extLst>
              <a:ext uri="{FF2B5EF4-FFF2-40B4-BE49-F238E27FC236}">
                <a16:creationId xmlns:a16="http://schemas.microsoft.com/office/drawing/2014/main" id="{5E3DBE4D-DB44-41E1-859C-FEB85AE34772}"/>
              </a:ext>
            </a:extLst>
          </p:cNvPr>
          <p:cNvSpPr/>
          <p:nvPr/>
        </p:nvSpPr>
        <p:spPr>
          <a:xfrm>
            <a:off x="697762" y="2264290"/>
            <a:ext cx="1000472" cy="365902"/>
          </a:xfrm>
          <a:prstGeom prst="ellipse">
            <a:avLst/>
          </a:prstGeom>
          <a:gradFill flip="none" rotWithShape="1">
            <a:gsLst>
              <a:gs pos="17000">
                <a:schemeClr val="tx1"/>
              </a:gs>
              <a:gs pos="100000">
                <a:srgbClr val="B45F07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FAF245F2-007D-4A23-BE8A-41EFB41908CF}"/>
              </a:ext>
            </a:extLst>
          </p:cNvPr>
          <p:cNvSpPr/>
          <p:nvPr/>
        </p:nvSpPr>
        <p:spPr>
          <a:xfrm>
            <a:off x="582384" y="1233770"/>
            <a:ext cx="1231229" cy="1231229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13500000" scaled="1"/>
            <a:tileRect/>
          </a:gra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B8A61074-6E8C-4390-BCCB-2FD294C9CE1D}"/>
              </a:ext>
            </a:extLst>
          </p:cNvPr>
          <p:cNvSpPr/>
          <p:nvPr/>
        </p:nvSpPr>
        <p:spPr>
          <a:xfrm>
            <a:off x="3003962" y="2992131"/>
            <a:ext cx="1000472" cy="365902"/>
          </a:xfrm>
          <a:prstGeom prst="ellipse">
            <a:avLst/>
          </a:prstGeom>
          <a:gradFill flip="none" rotWithShape="1">
            <a:gsLst>
              <a:gs pos="17000">
                <a:schemeClr val="tx1"/>
              </a:gs>
              <a:gs pos="100000">
                <a:srgbClr val="771F28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41682143-2060-4D25-88D6-CC5A6923EFA7}"/>
              </a:ext>
            </a:extLst>
          </p:cNvPr>
          <p:cNvSpPr/>
          <p:nvPr/>
        </p:nvSpPr>
        <p:spPr>
          <a:xfrm>
            <a:off x="2888584" y="1961611"/>
            <a:ext cx="1231229" cy="1231229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13500000" scaled="1"/>
            <a:tileRect/>
          </a:gra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E998C179-3520-42C7-8546-130E63803A38}"/>
              </a:ext>
            </a:extLst>
          </p:cNvPr>
          <p:cNvSpPr/>
          <p:nvPr/>
        </p:nvSpPr>
        <p:spPr>
          <a:xfrm>
            <a:off x="5298122" y="3660712"/>
            <a:ext cx="1000472" cy="365902"/>
          </a:xfrm>
          <a:prstGeom prst="ellipse">
            <a:avLst/>
          </a:prstGeom>
          <a:gradFill flip="none" rotWithShape="1">
            <a:gsLst>
              <a:gs pos="17000">
                <a:schemeClr val="tx1"/>
              </a:gs>
              <a:gs pos="100000">
                <a:srgbClr val="14425D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A69FEFF7-EB91-44B1-B58A-9A3218B6806F}"/>
              </a:ext>
            </a:extLst>
          </p:cNvPr>
          <p:cNvSpPr/>
          <p:nvPr/>
        </p:nvSpPr>
        <p:spPr>
          <a:xfrm>
            <a:off x="5182744" y="2630192"/>
            <a:ext cx="1231229" cy="1231229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13500000" scaled="1"/>
            <a:tileRect/>
          </a:gra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BA8C1811-0DE3-4BBF-8363-AB49DD7D5D14}"/>
              </a:ext>
            </a:extLst>
          </p:cNvPr>
          <p:cNvSpPr/>
          <p:nvPr/>
        </p:nvSpPr>
        <p:spPr>
          <a:xfrm>
            <a:off x="7592282" y="4432131"/>
            <a:ext cx="1000472" cy="365902"/>
          </a:xfrm>
          <a:prstGeom prst="ellipse">
            <a:avLst/>
          </a:prstGeom>
          <a:gradFill flip="none" rotWithShape="1">
            <a:gsLst>
              <a:gs pos="17000">
                <a:schemeClr val="tx1"/>
              </a:gs>
              <a:gs pos="100000">
                <a:srgbClr val="3B6431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23CEE28E-648B-4722-A4D5-D7DBE1DF3D3C}"/>
              </a:ext>
            </a:extLst>
          </p:cNvPr>
          <p:cNvSpPr/>
          <p:nvPr/>
        </p:nvSpPr>
        <p:spPr>
          <a:xfrm>
            <a:off x="7476904" y="3401611"/>
            <a:ext cx="1231229" cy="1231229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13500000" scaled="1"/>
            <a:tileRect/>
          </a:gra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974A4-3D05-4567-A2D2-2B5E9D41EC4A}"/>
              </a:ext>
            </a:extLst>
          </p:cNvPr>
          <p:cNvSpPr txBox="1"/>
          <p:nvPr/>
        </p:nvSpPr>
        <p:spPr>
          <a:xfrm>
            <a:off x="760217" y="164534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100%</a:t>
            </a:r>
            <a:endParaRPr lang="ru-RU" sz="2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80B0F-94CA-4B53-907A-6C2EF0756C70}"/>
              </a:ext>
            </a:extLst>
          </p:cNvPr>
          <p:cNvSpPr txBox="1"/>
          <p:nvPr/>
        </p:nvSpPr>
        <p:spPr>
          <a:xfrm>
            <a:off x="3144163" y="2326175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80%</a:t>
            </a:r>
            <a:endParaRPr lang="ru-RU" sz="2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243F05-0AB3-43AA-95B4-44B07C3FDE52}"/>
              </a:ext>
            </a:extLst>
          </p:cNvPr>
          <p:cNvSpPr txBox="1"/>
          <p:nvPr/>
        </p:nvSpPr>
        <p:spPr>
          <a:xfrm>
            <a:off x="5481515" y="3029508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60%</a:t>
            </a:r>
            <a:endParaRPr lang="ru-RU" sz="24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2C3E45-6C24-47E3-B6EC-3F2C579DF948}"/>
              </a:ext>
            </a:extLst>
          </p:cNvPr>
          <p:cNvSpPr txBox="1"/>
          <p:nvPr/>
        </p:nvSpPr>
        <p:spPr>
          <a:xfrm>
            <a:off x="7732483" y="3776640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40%</a:t>
            </a:r>
            <a:endParaRPr lang="ru-RU" sz="2400" b="1" dirty="0"/>
          </a:p>
        </p:txBody>
      </p:sp>
      <p:cxnSp>
        <p:nvCxnSpPr>
          <p:cNvPr id="39" name="Соединитель: уступ 38">
            <a:extLst>
              <a:ext uri="{FF2B5EF4-FFF2-40B4-BE49-F238E27FC236}">
                <a16:creationId xmlns:a16="http://schemas.microsoft.com/office/drawing/2014/main" id="{87686F51-9773-4C48-86AF-6CCCA13E6530}"/>
              </a:ext>
            </a:extLst>
          </p:cNvPr>
          <p:cNvCxnSpPr>
            <a:cxnSpLocks/>
            <a:stCxn id="7" idx="7"/>
          </p:cNvCxnSpPr>
          <p:nvPr/>
        </p:nvCxnSpPr>
        <p:spPr>
          <a:xfrm rot="5400000" flipH="1" flipV="1">
            <a:off x="1805345" y="1510870"/>
            <a:ext cx="819936" cy="72216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: уступ 39">
            <a:extLst>
              <a:ext uri="{FF2B5EF4-FFF2-40B4-BE49-F238E27FC236}">
                <a16:creationId xmlns:a16="http://schemas.microsoft.com/office/drawing/2014/main" id="{4CE11F11-0986-414F-883E-5D41049DB3F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25931" y="2251725"/>
            <a:ext cx="819936" cy="72216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51D579AF-E31F-4F15-BF58-64F64EFF45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451470" y="2954121"/>
            <a:ext cx="819936" cy="72216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247E38AB-BA6C-4FA4-9163-8829438754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699742" y="3697579"/>
            <a:ext cx="819936" cy="72216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75342B5-A83F-46C1-9CED-36AA9C435F9C}"/>
              </a:ext>
            </a:extLst>
          </p:cNvPr>
          <p:cNvSpPr txBox="1"/>
          <p:nvPr/>
        </p:nvSpPr>
        <p:spPr>
          <a:xfrm>
            <a:off x="9771064" y="2921786"/>
            <a:ext cx="148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Lorem ipsum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3D43AD-F80B-45B0-9CF6-932C6D07544A}"/>
              </a:ext>
            </a:extLst>
          </p:cNvPr>
          <p:cNvSpPr txBox="1"/>
          <p:nvPr/>
        </p:nvSpPr>
        <p:spPr>
          <a:xfrm>
            <a:off x="10049625" y="3187696"/>
            <a:ext cx="148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Lorem ipsum dolor sit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amet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 </a:t>
            </a:r>
            <a:endParaRPr lang="ru-RU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F3A306-6523-4FAD-9EED-862D8428B51A}"/>
              </a:ext>
            </a:extLst>
          </p:cNvPr>
          <p:cNvSpPr txBox="1"/>
          <p:nvPr/>
        </p:nvSpPr>
        <p:spPr>
          <a:xfrm>
            <a:off x="1650057" y="444531"/>
            <a:ext cx="148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90A2CF"/>
                </a:solidFill>
              </a:rPr>
              <a:t>Lorem ipsum</a:t>
            </a:r>
            <a:endParaRPr lang="ru-RU" sz="1600" b="1" dirty="0">
              <a:solidFill>
                <a:srgbClr val="90A2CF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B9848E-111E-47FB-97FC-8EE46E35FB0A}"/>
              </a:ext>
            </a:extLst>
          </p:cNvPr>
          <p:cNvSpPr txBox="1"/>
          <p:nvPr/>
        </p:nvSpPr>
        <p:spPr>
          <a:xfrm>
            <a:off x="1759238" y="701372"/>
            <a:ext cx="148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Lorem ipsum dolor sit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amet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 </a:t>
            </a:r>
            <a:endParaRPr lang="ru-RU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AE6A55-B2E4-4192-89E2-BB60D7733A6C}"/>
              </a:ext>
            </a:extLst>
          </p:cNvPr>
          <p:cNvSpPr txBox="1"/>
          <p:nvPr/>
        </p:nvSpPr>
        <p:spPr>
          <a:xfrm>
            <a:off x="3992903" y="1111638"/>
            <a:ext cx="148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Lorem ipsum</a:t>
            </a:r>
            <a:endParaRPr lang="ru-RU" sz="1600" b="1"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18AD16-43F6-4B20-9735-1CDFD0B020C3}"/>
              </a:ext>
            </a:extLst>
          </p:cNvPr>
          <p:cNvSpPr txBox="1"/>
          <p:nvPr/>
        </p:nvSpPr>
        <p:spPr>
          <a:xfrm>
            <a:off x="4102084" y="1368479"/>
            <a:ext cx="148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Lorem ipsum dolor sit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amet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 </a:t>
            </a:r>
            <a:endParaRPr lang="ru-RU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2A2C54-F982-4461-9114-C529003F5FA2}"/>
              </a:ext>
            </a:extLst>
          </p:cNvPr>
          <p:cNvSpPr txBox="1"/>
          <p:nvPr/>
        </p:nvSpPr>
        <p:spPr>
          <a:xfrm>
            <a:off x="6277707" y="1797071"/>
            <a:ext cx="148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Lorem ipsum</a:t>
            </a:r>
            <a:endParaRPr lang="ru-RU" sz="1600" b="1" dirty="0">
              <a:solidFill>
                <a:schemeClr val="accent3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16AFB0-846F-43B4-A8BE-ED6FE4F405D6}"/>
              </a:ext>
            </a:extLst>
          </p:cNvPr>
          <p:cNvSpPr txBox="1"/>
          <p:nvPr/>
        </p:nvSpPr>
        <p:spPr>
          <a:xfrm>
            <a:off x="6386888" y="2053912"/>
            <a:ext cx="148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Lorem ipsum dolor sit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amet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 </a:t>
            </a:r>
            <a:endParaRPr lang="ru-RU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817D31-0D41-41FB-829B-B25EC2E252F3}"/>
              </a:ext>
            </a:extLst>
          </p:cNvPr>
          <p:cNvSpPr txBox="1"/>
          <p:nvPr/>
        </p:nvSpPr>
        <p:spPr>
          <a:xfrm>
            <a:off x="8564625" y="2538242"/>
            <a:ext cx="148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</a:rPr>
              <a:t>Lorem ipsum</a:t>
            </a:r>
            <a:endParaRPr lang="ru-RU" sz="1600" b="1" dirty="0">
              <a:solidFill>
                <a:schemeClr val="accent4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A29451-7C86-4877-9417-A7685D7F4B20}"/>
              </a:ext>
            </a:extLst>
          </p:cNvPr>
          <p:cNvSpPr txBox="1"/>
          <p:nvPr/>
        </p:nvSpPr>
        <p:spPr>
          <a:xfrm>
            <a:off x="8673806" y="2795083"/>
            <a:ext cx="148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Lorem ipsum dolor sit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amet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 </a:t>
            </a:r>
            <a:endParaRPr lang="ru-RU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8" name="Нижний колонтитул 4">
            <a:extLst>
              <a:ext uri="{FF2B5EF4-FFF2-40B4-BE49-F238E27FC236}">
                <a16:creationId xmlns:a16="http://schemas.microsoft.com/office/drawing/2014/main" id="{393941DD-6783-4BAB-A63C-CF5230947430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61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D91AC-101D-44C5-82F8-EE1819E1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Ключевые игроки рынка</a:t>
            </a:r>
            <a:endParaRPr lang="ru-RU" dirty="0"/>
          </a:p>
        </p:txBody>
      </p:sp>
      <p:pic>
        <p:nvPicPr>
          <p:cNvPr id="6" name="Объект 5" descr="Сервер со сплошной заливкой">
            <a:extLst>
              <a:ext uri="{FF2B5EF4-FFF2-40B4-BE49-F238E27FC236}">
                <a16:creationId xmlns:a16="http://schemas.microsoft.com/office/drawing/2014/main" id="{CFC0280E-BCD7-4656-AF20-8305498B5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44763" y="2270760"/>
            <a:ext cx="3160600" cy="3160600"/>
          </a:xfr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CC899B59-6B93-41A8-9279-7BEBC97DF71D}"/>
              </a:ext>
            </a:extLst>
          </p:cNvPr>
          <p:cNvSpPr txBox="1">
            <a:spLocks/>
          </p:cNvSpPr>
          <p:nvPr/>
        </p:nvSpPr>
        <p:spPr>
          <a:xfrm>
            <a:off x="5699760" y="2270760"/>
            <a:ext cx="3307080" cy="316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Kaspersky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Bitdefender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Norton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McAfee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ESET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Avast / AVG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D24583-7C98-4D15-9207-E11AB8D58EB9}"/>
              </a:ext>
            </a:extLst>
          </p:cNvPr>
          <p:cNvSpPr txBox="1">
            <a:spLocks/>
          </p:cNvSpPr>
          <p:nvPr/>
        </p:nvSpPr>
        <p:spPr>
          <a:xfrm>
            <a:off x="3802742" y="6559325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2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49C6B4-42E4-24D6-FBF7-5E38F1846303}"/>
              </a:ext>
            </a:extLst>
          </p:cNvPr>
          <p:cNvSpPr txBox="1">
            <a:spLocks/>
          </p:cNvSpPr>
          <p:nvPr/>
        </p:nvSpPr>
        <p:spPr>
          <a:xfrm>
            <a:off x="457200" y="5431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рынка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D4F9D1-8BE2-DB1B-C037-AF878BA32573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Компании различаются по: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Уровню технологичности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Массовости продукта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Наличию дополнительных сервисов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• Ориентации на корпоративный или домашний сегмент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868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1328B-B497-0922-7080-E33C17DE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784E-F390-1080-FCF7-8701B7EC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Перспективы развития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49637-5F71-64BC-31C9-6ED6BF588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Интеллектуальные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защиты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Усиление</a:t>
            </a:r>
            <a:r>
              <a:rPr dirty="0"/>
              <a:t> </a:t>
            </a:r>
            <a:r>
              <a:rPr dirty="0" err="1"/>
              <a:t>облачных</a:t>
            </a:r>
            <a:r>
              <a:rPr dirty="0"/>
              <a:t> </a:t>
            </a:r>
            <a:r>
              <a:rPr dirty="0" err="1"/>
              <a:t>решений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комплексной</a:t>
            </a:r>
            <a:r>
              <a:rPr dirty="0"/>
              <a:t> </a:t>
            </a:r>
            <a:r>
              <a:rPr dirty="0" err="1"/>
              <a:t>цифровой</a:t>
            </a:r>
            <a:r>
              <a:rPr dirty="0"/>
              <a:t> </a:t>
            </a:r>
            <a:r>
              <a:rPr dirty="0" err="1"/>
              <a:t>безопасности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6744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09AE71-71F5-4ADB-A799-98BE2A0B5B6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292" y="4824452"/>
            <a:ext cx="630000" cy="63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1167A3-5387-463D-BD5C-81F20DBFAA9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203292" y="4820381"/>
            <a:ext cx="630000" cy="63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A78931-C025-4EA1-91DC-8224536996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103292" y="4820381"/>
            <a:ext cx="630000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961FBC-4D3A-44BF-83AE-8448BD129B8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003292" y="4820381"/>
            <a:ext cx="630000" cy="63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F8C3CD-B8DA-99DD-DFC9-EA1D08D60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Заключение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5C15-8857-5F8C-22B8-C2621DD41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Антивирусное</a:t>
            </a:r>
            <a:r>
              <a:rPr dirty="0"/>
              <a:t> ПО </a:t>
            </a:r>
            <a:r>
              <a:rPr dirty="0" err="1"/>
              <a:t>играет</a:t>
            </a:r>
            <a:r>
              <a:rPr dirty="0"/>
              <a:t> </a:t>
            </a:r>
            <a:r>
              <a:rPr dirty="0" err="1"/>
              <a:t>важную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в </a:t>
            </a:r>
            <a:r>
              <a:rPr dirty="0" err="1"/>
              <a:t>обеспечении</a:t>
            </a:r>
            <a:r>
              <a:rPr dirty="0"/>
              <a:t> </a:t>
            </a:r>
            <a:r>
              <a:rPr dirty="0" err="1"/>
              <a:t>информационной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и </a:t>
            </a:r>
            <a:r>
              <a:rPr dirty="0" err="1"/>
              <a:t>продолжает</a:t>
            </a:r>
            <a:r>
              <a:rPr dirty="0"/>
              <a:t> </a:t>
            </a:r>
            <a:r>
              <a:rPr dirty="0" err="1"/>
              <a:t>активно</a:t>
            </a:r>
            <a:r>
              <a:rPr dirty="0"/>
              <a:t> </a:t>
            </a:r>
            <a:r>
              <a:rPr dirty="0" err="1"/>
              <a:t>развиваться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339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461</Words>
  <Application>Microsoft Office PowerPoint</Application>
  <PresentationFormat>Широкоэкранный</PresentationFormat>
  <Paragraphs>109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Тема Office</vt:lpstr>
      <vt:lpstr>Антивирусное программное обеспечение (Обзор рынка)</vt:lpstr>
      <vt:lpstr>Актуальность темы</vt:lpstr>
      <vt:lpstr>Понятие антивирусного ПО</vt:lpstr>
      <vt:lpstr>Презентация PowerPoint</vt:lpstr>
      <vt:lpstr>Методы обнаружения угроз</vt:lpstr>
      <vt:lpstr>Методы обнаружения угроз</vt:lpstr>
      <vt:lpstr>Тенденции развития</vt:lpstr>
      <vt:lpstr>Вставьте заголовок слайда</vt:lpstr>
      <vt:lpstr>Ключевые игроки рынка</vt:lpstr>
      <vt:lpstr>Презентация PowerPoint</vt:lpstr>
      <vt:lpstr>Перспективы развития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Tasya Sosina</cp:lastModifiedBy>
  <cp:revision>19</cp:revision>
  <dcterms:created xsi:type="dcterms:W3CDTF">2021-08-22T09:33:20Z</dcterms:created>
  <dcterms:modified xsi:type="dcterms:W3CDTF">2026-02-15T16:24:27Z</dcterms:modified>
</cp:coreProperties>
</file>